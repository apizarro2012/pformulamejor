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873" autoAdjust="0"/>
  </p:normalViewPr>
  <p:slideViewPr>
    <p:cSldViewPr snapToGrid="0">
      <p:cViewPr varScale="1">
        <p:scale>
          <a:sx n="66" d="100"/>
          <a:sy n="66" d="100"/>
        </p:scale>
        <p:origin x="90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26.4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27.2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32.8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03867-D006-4207-B39B-3A985B27AC3F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9B0FE-1750-4648-8C93-771D6BB61A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267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Upstream oil &amp; gas - material inputs needed for production.</a:t>
            </a:r>
            <a:endParaRPr lang="es-419" dirty="0"/>
          </a:p>
          <a:p>
            <a:r>
              <a:rPr lang="es-419" dirty="0"/>
              <a:t>Su abundancia de recursos posicionan a </a:t>
            </a:r>
            <a:r>
              <a:rPr lang="es-419" dirty="0" err="1"/>
              <a:t>Brazil</a:t>
            </a:r>
            <a:r>
              <a:rPr lang="es-419" dirty="0"/>
              <a:t> como primero de la lista, mientras que la falta de inversión y los problemas políticos en Venezuela la relegan al final de la lista. Latinoamérica en general tiene reservas probadas de petróleo y gas, lo que atrae la inversión.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B0FE-1750-4648-8C93-771D6BB61A2B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3366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 err="1"/>
              <a:t>Downstream</a:t>
            </a:r>
            <a:r>
              <a:rPr lang="es-419" dirty="0"/>
              <a:t> </a:t>
            </a:r>
            <a:r>
              <a:rPr lang="es-419" dirty="0" err="1"/>
              <a:t>oil</a:t>
            </a:r>
            <a:r>
              <a:rPr lang="es-419" dirty="0"/>
              <a:t> &amp; gas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products get produced and distributed.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underperform as compared to the world due to strong intervention and political risk.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coloca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Brasil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top de la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Recompensas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sustentadas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la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refinamiento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mercados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clave.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Perú, Chile y México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invirtiendo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aumentar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refinamiento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Los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demás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enfocados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upstream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oil&amp;gas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B0FE-1750-4648-8C93-771D6BB61A2B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364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Producción de crudo disminuirá debido a la falta de inversión en exploración y explotación, y a las amenazas que confronta. NGL </a:t>
            </a:r>
            <a:r>
              <a:rPr lang="es-419" dirty="0" err="1"/>
              <a:t>production</a:t>
            </a:r>
            <a:r>
              <a:rPr lang="es-419" dirty="0"/>
              <a:t> se eleva.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9B0FE-1750-4648-8C93-771D6BB61A2B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65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83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1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847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222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631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72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764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580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083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828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35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earch.proquest.com/docview/2252442775?accountid=43860" TargetMode="External"/><Relationship Id="rId3" Type="http://schemas.microsoft.com/office/2007/relationships/hdphoto" Target="../media/hdphoto1.wdp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earch.proquest.com/docview/2252442775?accountid=4386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01305938?accountid=43860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search.proquest.com/docview/2201305938?accountid=4386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01305938?accountid=4386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earch.proquest.com/docview/2290624478?accountid=4386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90624478?accountid=4386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earch.proquest.com/docview/2290624478?accountid=4386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90624478?accountid=43860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90624478?accountid=43860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90624478?accountid=43860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docview/2290624478?accountid=43860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search.proquest.com/docview/2290624478?accountid=4386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1A32ACF-A0E9-476F-AD11-3A62B727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Globalmente – </a:t>
            </a:r>
            <a:r>
              <a:rPr lang="es-419" dirty="0" err="1"/>
              <a:t>Oil</a:t>
            </a:r>
            <a:r>
              <a:rPr lang="es-419" dirty="0"/>
              <a:t> &amp; Gas</a:t>
            </a:r>
            <a:endParaRPr lang="es-PE" dirty="0"/>
          </a:p>
        </p:txBody>
      </p:sp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C8F86E6F-477F-482A-972F-19C73BFE8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6124" y="1907405"/>
            <a:ext cx="7720830" cy="2037349"/>
          </a:xfrm>
          <a:prstGeom prst="rect">
            <a:avLst/>
          </a:prstGeo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32DB01CF-81B0-4605-BFB3-AD9857976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419" dirty="0"/>
              <a:t>Incremento del precio del barril de petróleo desde inicios de 2019.</a:t>
            </a:r>
          </a:p>
          <a:p>
            <a:r>
              <a:rPr lang="es-PE" dirty="0"/>
              <a:t>Sanciones contra Venezuela e Irán  disminuyen la producción global de combustible.</a:t>
            </a:r>
          </a:p>
          <a:p>
            <a:r>
              <a:rPr lang="es-PE" dirty="0"/>
              <a:t>Tensiones entre USA y China generan incertidumbre.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2BEF6F-4CC2-4BB2-A4B2-4D562C4AFC5E}"/>
              </a:ext>
            </a:extLst>
          </p:cNvPr>
          <p:cNvCxnSpPr>
            <a:cxnSpLocks/>
          </p:cNvCxnSpPr>
          <p:nvPr/>
        </p:nvCxnSpPr>
        <p:spPr>
          <a:xfrm flipV="1">
            <a:off x="11802185" y="942535"/>
            <a:ext cx="0" cy="9959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40FA4CB-FF2E-4E86-AEAD-3A72FC5EF41A}"/>
              </a:ext>
            </a:extLst>
          </p:cNvPr>
          <p:cNvSpPr txBox="1"/>
          <p:nvPr/>
        </p:nvSpPr>
        <p:spPr>
          <a:xfrm>
            <a:off x="5273040" y="4215944"/>
            <a:ext cx="530352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/>
              <a:t>Crecimiento estable de la producción mundial de crudo, a pesar del surgimiento de nuevas tecnologías renovables.</a:t>
            </a:r>
            <a:endParaRPr lang="es-PE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22B264-9DB9-4223-B5AE-0E1169A5FA4B}"/>
              </a:ext>
            </a:extLst>
          </p:cNvPr>
          <p:cNvSpPr/>
          <p:nvPr/>
        </p:nvSpPr>
        <p:spPr>
          <a:xfrm>
            <a:off x="11324492" y="2070969"/>
            <a:ext cx="712462" cy="1730825"/>
          </a:xfrm>
          <a:prstGeom prst="rect">
            <a:avLst/>
          </a:prstGeom>
          <a:noFill/>
          <a:ln w="53975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E71224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F23527C3-8AB1-44F0-A1E7-D13DD0B38B57}"/>
                  </a:ext>
                </a:extLst>
              </p14:cNvPr>
              <p14:cNvContentPartPr/>
              <p14:nvPr/>
            </p14:nvContentPartPr>
            <p14:xfrm>
              <a:off x="11802185" y="2573889"/>
              <a:ext cx="360" cy="36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F23527C3-8AB1-44F0-A1E7-D13DD0B38B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93185" y="25648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FF26B203-5222-42C2-9405-ADC272D40616}"/>
                  </a:ext>
                </a:extLst>
              </p14:cNvPr>
              <p14:cNvContentPartPr/>
              <p14:nvPr/>
            </p14:nvContentPartPr>
            <p14:xfrm>
              <a:off x="11774465" y="2180049"/>
              <a:ext cx="360" cy="36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FF26B203-5222-42C2-9405-ADC272D40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65825" y="217104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9AB6F46E-4C69-405A-A65E-CBEC5AEA1EBD}"/>
                  </a:ext>
                </a:extLst>
              </p14:cNvPr>
              <p14:cNvContentPartPr/>
              <p14:nvPr/>
            </p14:nvContentPartPr>
            <p14:xfrm>
              <a:off x="11647385" y="3319449"/>
              <a:ext cx="360" cy="36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9AB6F46E-4C69-405A-A65E-CBEC5AEA1E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38745" y="331044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ángulo 30">
            <a:extLst>
              <a:ext uri="{FF2B5EF4-FFF2-40B4-BE49-F238E27FC236}">
                <a16:creationId xmlns:a16="http://schemas.microsoft.com/office/drawing/2014/main" id="{6851566F-E93D-4C80-AA6E-C9B5BABD29A1}"/>
              </a:ext>
            </a:extLst>
          </p:cNvPr>
          <p:cNvSpPr/>
          <p:nvPr/>
        </p:nvSpPr>
        <p:spPr>
          <a:xfrm>
            <a:off x="4316124" y="5954145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</a:t>
            </a:r>
            <a:r>
              <a:rPr lang="es-PE" sz="11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Q3 2019.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https://search.proquest.com/docview/2252442775?accountid=43860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93548F8-4AC3-4CB2-BCD4-EE6480F775F2}"/>
              </a:ext>
            </a:extLst>
          </p:cNvPr>
          <p:cNvCxnSpPr>
            <a:cxnSpLocks/>
          </p:cNvCxnSpPr>
          <p:nvPr/>
        </p:nvCxnSpPr>
        <p:spPr>
          <a:xfrm flipV="1">
            <a:off x="11124536" y="1294228"/>
            <a:ext cx="0" cy="64427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16C4BE2-A08E-4279-8BE2-AE12BA5BB94A}"/>
              </a:ext>
            </a:extLst>
          </p:cNvPr>
          <p:cNvCxnSpPr>
            <a:cxnSpLocks/>
          </p:cNvCxnSpPr>
          <p:nvPr/>
        </p:nvCxnSpPr>
        <p:spPr>
          <a:xfrm flipV="1">
            <a:off x="10394735" y="1616365"/>
            <a:ext cx="0" cy="34465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4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5D2B19D-8500-4CAC-9D74-7A3700A3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Globalmente</a:t>
            </a:r>
            <a:endParaRPr lang="es-PE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BEB1AEC-2526-418A-BAC8-FE74BEB76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991" y="1846263"/>
            <a:ext cx="8201757" cy="431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1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8BF989F-F50D-442F-BF85-204517C7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Globalmente</a:t>
            </a:r>
            <a:endParaRPr lang="es-PE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49B86701-9F7D-4F7B-9C67-D00457EA8F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156015"/>
            <a:ext cx="4938712" cy="3403221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0F9713B9-DDE6-466B-B175-E85D05180A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8238" y="2148621"/>
            <a:ext cx="4937125" cy="341800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D322596-5D5E-4BAE-95C9-16AFBC78CE64}"/>
              </a:ext>
            </a:extLst>
          </p:cNvPr>
          <p:cNvSpPr/>
          <p:nvPr/>
        </p:nvSpPr>
        <p:spPr>
          <a:xfrm>
            <a:off x="122238" y="567225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</a:t>
            </a:r>
            <a:r>
              <a:rPr lang="es-PE" sz="11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Q3 2019.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https://search.proquest.com/docview/2252442775?accountid=43860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89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D99B3-5EF2-42CF-8338-5B0F3AE8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Latinoamérica – </a:t>
            </a:r>
            <a:r>
              <a:rPr lang="es-419" dirty="0" err="1"/>
              <a:t>Oil</a:t>
            </a:r>
            <a:r>
              <a:rPr lang="es-419" dirty="0"/>
              <a:t> &amp; Gas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149CA91-5F09-486F-879D-58C2874FB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4001" y="1828801"/>
            <a:ext cx="7780296" cy="267571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2B22B5-B91D-4DE6-B37D-655869DD1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419" dirty="0"/>
              <a:t>Exploraciones submarinas en Brasil.</a:t>
            </a:r>
          </a:p>
          <a:p>
            <a:r>
              <a:rPr lang="es-419" dirty="0"/>
              <a:t>Los mayores productores, México y Venezuela, con resultados negativos.</a:t>
            </a:r>
          </a:p>
          <a:p>
            <a:r>
              <a:rPr lang="es-419" dirty="0"/>
              <a:t>Crecimiento en el largo plazo debido a reservas subterráneas.</a:t>
            </a:r>
            <a:endParaRPr lang="es-PE" dirty="0"/>
          </a:p>
          <a:p>
            <a:r>
              <a:rPr lang="es-PE" dirty="0"/>
              <a:t>Altos riesgos políticos. Mucho populismo.</a:t>
            </a:r>
          </a:p>
          <a:p>
            <a:r>
              <a:rPr lang="es-PE" dirty="0"/>
              <a:t>Resultados mixtos: países atractivos para la inversión y también los que no.</a:t>
            </a:r>
          </a:p>
          <a:p>
            <a:r>
              <a:rPr lang="es-PE" dirty="0"/>
              <a:t>Demanda regional de gas natural no satisfecha.</a:t>
            </a:r>
            <a:endParaRPr lang="es-419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279CC2F-6207-4248-81FB-8F74E466F20C}"/>
              </a:ext>
            </a:extLst>
          </p:cNvPr>
          <p:cNvCxnSpPr/>
          <p:nvPr/>
        </p:nvCxnSpPr>
        <p:spPr>
          <a:xfrm>
            <a:off x="12014297" y="1737359"/>
            <a:ext cx="0" cy="28782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4B32D5CD-4FE4-47CD-B5CA-54F663E749BD}"/>
              </a:ext>
            </a:extLst>
          </p:cNvPr>
          <p:cNvSpPr/>
          <p:nvPr/>
        </p:nvSpPr>
        <p:spPr>
          <a:xfrm>
            <a:off x="4234001" y="5967900"/>
            <a:ext cx="6096000" cy="6746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america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Q2 2019.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https://search.proquest.com/docview/2201305938?accountid=43860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F89B3D-DF3D-4A9D-8934-C89DEFBA40C5}"/>
              </a:ext>
            </a:extLst>
          </p:cNvPr>
          <p:cNvSpPr txBox="1"/>
          <p:nvPr/>
        </p:nvSpPr>
        <p:spPr>
          <a:xfrm>
            <a:off x="5586938" y="398085"/>
            <a:ext cx="530352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/>
              <a:t>Disminución en la producción de crudo regional.</a:t>
            </a:r>
          </a:p>
          <a:p>
            <a:r>
              <a:rPr lang="es-419" dirty="0"/>
              <a:t>Ligero aumento en la de gas natural, pero insuficiente para cubrir la demanda local.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5491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36BAF-0980-45A4-80A8-0709DA3D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Matriz Riesgo Recompensa </a:t>
            </a:r>
            <a:r>
              <a:rPr lang="es-419" dirty="0" err="1"/>
              <a:t>Latam</a:t>
            </a:r>
            <a:r>
              <a:rPr lang="es-419" dirty="0"/>
              <a:t> – Exploración y Producción </a:t>
            </a:r>
            <a:r>
              <a:rPr lang="es-419" dirty="0" err="1"/>
              <a:t>Oil</a:t>
            </a:r>
            <a:r>
              <a:rPr lang="es-419" dirty="0"/>
              <a:t> &amp; Gas</a:t>
            </a:r>
            <a:endParaRPr lang="es-PE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FCED022-B613-4D4A-B2DB-9B9D16ADB6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8892" y="1869743"/>
            <a:ext cx="5760000" cy="40695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8CDAAB7-D184-4611-B32A-C7EBA3F42C0A}"/>
              </a:ext>
            </a:extLst>
          </p:cNvPr>
          <p:cNvSpPr/>
          <p:nvPr/>
        </p:nvSpPr>
        <p:spPr>
          <a:xfrm>
            <a:off x="126025" y="6119657"/>
            <a:ext cx="6096000" cy="6746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america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Q2 2019.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https://search.proquest.com/docview/2201305938?accountid=43860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A02F5E6C-1AB8-4695-A502-C5F5895C64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953108" y="2184930"/>
            <a:ext cx="6120000" cy="348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8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36BAF-0980-45A4-80A8-0709DA3D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Matriz Riesgo Recompensa </a:t>
            </a:r>
            <a:r>
              <a:rPr lang="es-419" dirty="0" err="1"/>
              <a:t>Latam</a:t>
            </a:r>
            <a:r>
              <a:rPr lang="es-419" dirty="0"/>
              <a:t> – Refinamiento </a:t>
            </a:r>
            <a:r>
              <a:rPr lang="es-419" dirty="0" err="1"/>
              <a:t>Oil</a:t>
            </a:r>
            <a:r>
              <a:rPr lang="es-419" dirty="0"/>
              <a:t> &amp; Gas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CDAAB7-D184-4611-B32A-C7EBA3F42C0A}"/>
              </a:ext>
            </a:extLst>
          </p:cNvPr>
          <p:cNvSpPr/>
          <p:nvPr/>
        </p:nvSpPr>
        <p:spPr>
          <a:xfrm>
            <a:off x="126025" y="6119657"/>
            <a:ext cx="6096000" cy="6746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america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Q2 2019.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https://search.proquest.com/docview/2201305938?accountid=43860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42CF220-5925-4D7D-8035-8F3C4430D6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0" y="1975008"/>
            <a:ext cx="5760000" cy="4144649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8D40AA60-64BC-4ABF-A68C-F5386EE732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942467" y="2219128"/>
            <a:ext cx="6120000" cy="365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1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9A63C-B2D9-4929-B8AA-339C12E0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Perú – </a:t>
            </a:r>
            <a:r>
              <a:rPr lang="es-419" dirty="0" err="1"/>
              <a:t>Oil</a:t>
            </a:r>
            <a:r>
              <a:rPr lang="es-419" dirty="0"/>
              <a:t> &amp; Gas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7A904B-9E1A-4BDF-9442-E2F7BFAF0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09143" y="1908660"/>
            <a:ext cx="7837714" cy="2365798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9C3B8-459B-45F1-9DDA-512A8966E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419" dirty="0"/>
              <a:t>Producción y demanda de crudo y GLP estable, pero debajo de su potencial</a:t>
            </a:r>
          </a:p>
          <a:p>
            <a:r>
              <a:rPr lang="es-419" dirty="0"/>
              <a:t>Producción de gas natural crecerá en la siguiente década debido al apoyo del gobierno.</a:t>
            </a:r>
          </a:p>
          <a:p>
            <a:r>
              <a:rPr lang="es-419" dirty="0"/>
              <a:t>Alta oposición ambientalista, y un fuerte mercado competitivo regional reducen el atractivo del </a:t>
            </a:r>
            <a:r>
              <a:rPr lang="es-419" dirty="0" err="1"/>
              <a:t>suminsitro</a:t>
            </a:r>
            <a:r>
              <a:rPr lang="es-419" dirty="0"/>
              <a:t> peruano.</a:t>
            </a:r>
          </a:p>
          <a:p>
            <a:endParaRPr lang="es-PE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931C978-D71A-4437-9186-EE7C31F8B981}"/>
              </a:ext>
            </a:extLst>
          </p:cNvPr>
          <p:cNvCxnSpPr/>
          <p:nvPr/>
        </p:nvCxnSpPr>
        <p:spPr>
          <a:xfrm flipV="1">
            <a:off x="7982857" y="1737359"/>
            <a:ext cx="3918857" cy="5123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D4A5AD3-2860-4403-A63F-32D81AA28ACE}"/>
              </a:ext>
            </a:extLst>
          </p:cNvPr>
          <p:cNvSpPr txBox="1"/>
          <p:nvPr/>
        </p:nvSpPr>
        <p:spPr>
          <a:xfrm>
            <a:off x="5586938" y="398085"/>
            <a:ext cx="530352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/>
              <a:t>Producción estable y en crecimiento, principalmente por la inversión en gas natural.</a:t>
            </a:r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41C980D-CC17-48DF-9BA2-4B59347E4BF9}"/>
              </a:ext>
            </a:extLst>
          </p:cNvPr>
          <p:cNvSpPr/>
          <p:nvPr/>
        </p:nvSpPr>
        <p:spPr>
          <a:xfrm>
            <a:off x="4209143" y="5967900"/>
            <a:ext cx="6096000" cy="6746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200" i="1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200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https://search.proquest.com/docview/2290624478?accountid=43860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34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E0B9E-B1C9-46B5-8047-572BB31E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FODA </a:t>
            </a:r>
            <a:r>
              <a:rPr lang="es-419" dirty="0" err="1"/>
              <a:t>Oil</a:t>
            </a:r>
            <a:r>
              <a:rPr lang="es-419" dirty="0"/>
              <a:t> &amp; Gas </a:t>
            </a:r>
            <a:r>
              <a:rPr lang="es-419" dirty="0" err="1"/>
              <a:t>Peru</a:t>
            </a:r>
            <a:endParaRPr lang="es-PE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54149BE-0ACE-4EC5-86C5-77016762D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2598" y="1737360"/>
            <a:ext cx="7226804" cy="462809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1386AD4-8A9A-42D5-92F4-AD8D9055F8DC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E63A4B0-33DC-4E6F-BF0A-E9089DEE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Forecast</a:t>
            </a:r>
            <a:r>
              <a:rPr lang="es-419" dirty="0"/>
              <a:t> Producción Perú</a:t>
            </a:r>
            <a:endParaRPr lang="es-PE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2E7178D9-8542-40D6-BCA0-9C3A5A2EC8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145714"/>
            <a:ext cx="4938712" cy="3423822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BC524B7D-32B5-44A3-A5E8-F695551925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8238" y="2145199"/>
            <a:ext cx="4937125" cy="342485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EE01D41-68C6-4252-A591-6A4076AB021F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79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3617E4D-44F7-4E00-AC7F-E598A5C559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592649" y="409349"/>
            <a:ext cx="8285843" cy="5548712"/>
          </a:xfrm>
          <a:prstGeom prst="rect">
            <a:avLst/>
          </a:prstGeom>
        </p:spPr>
      </p:pic>
      <p:sp>
        <p:nvSpPr>
          <p:cNvPr id="5" name="Título 6">
            <a:extLst>
              <a:ext uri="{FF2B5EF4-FFF2-40B4-BE49-F238E27FC236}">
                <a16:creationId xmlns:a16="http://schemas.microsoft.com/office/drawing/2014/main" id="{BC627872-AA92-4E54-B906-16712A72A7C4}"/>
              </a:ext>
            </a:extLst>
          </p:cNvPr>
          <p:cNvSpPr txBox="1">
            <a:spLocks/>
          </p:cNvSpPr>
          <p:nvPr/>
        </p:nvSpPr>
        <p:spPr>
          <a:xfrm>
            <a:off x="168365" y="409349"/>
            <a:ext cx="3424284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 err="1"/>
              <a:t>Forecast</a:t>
            </a:r>
            <a:r>
              <a:rPr lang="es-419" dirty="0"/>
              <a:t> Refinamiento Perú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A99E32D-3976-41F9-8C14-8862815C445B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3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C2109-DC19-4C5B-9100-169E23C2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Infraestructura </a:t>
            </a:r>
            <a:r>
              <a:rPr lang="es-419" dirty="0" err="1"/>
              <a:t>Oil</a:t>
            </a:r>
            <a:r>
              <a:rPr lang="es-419" dirty="0"/>
              <a:t> &amp; Gas Perú</a:t>
            </a:r>
            <a:endParaRPr lang="es-PE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4223B07-A08D-4ED1-ACB8-6BFAF5607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95866"/>
            <a:ext cx="10217094" cy="344859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D0770CC-F9DE-4441-8DA5-354F5C2998C3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7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19980-0596-4603-8449-BDF692D4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Key </a:t>
            </a:r>
            <a:r>
              <a:rPr lang="es-419" dirty="0" err="1"/>
              <a:t>Players</a:t>
            </a:r>
            <a:r>
              <a:rPr lang="es-419" dirty="0"/>
              <a:t> en el Mercado Peruano</a:t>
            </a:r>
            <a:endParaRPr lang="es-PE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9D3D67-55CE-4DDE-BF6A-CF701D7A8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055" y="1988459"/>
            <a:ext cx="10657889" cy="368669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AAD1257-9FDE-4FDB-88D6-70D021BE4AD1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58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57521-79CC-4C7F-A586-6C7539F7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Petroperu</a:t>
            </a:r>
            <a:endParaRPr lang="es-PE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8FDDC3D-1087-45FD-ACA2-251339109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404" y="1935186"/>
            <a:ext cx="5815191" cy="415370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AF3536-434E-4041-9858-903B6D1C5495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45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57521-79CC-4C7F-A586-6C7539F7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Petroperu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AF3536-434E-4041-9858-903B6D1C5495}"/>
              </a:ext>
            </a:extLst>
          </p:cNvPr>
          <p:cNvSpPr/>
          <p:nvPr/>
        </p:nvSpPr>
        <p:spPr>
          <a:xfrm>
            <a:off x="0" y="6286720"/>
            <a:ext cx="6096000" cy="626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gas </a:t>
            </a:r>
            <a:r>
              <a:rPr lang="es-PE" sz="1100" i="1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s-PE" sz="1100" i="1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Q4 2019.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(2019). (). London: Fitch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ProQuest Central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Retrieved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dirty="0" err="1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PE" sz="11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100" u="sng" dirty="0">
                <a:solidFill>
                  <a:srgbClr val="0563C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https://search.proquest.com/docview/2290624478?accountid=43860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DBE60FD-582B-4466-9B2D-B791EFCB9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7433" y="1876215"/>
            <a:ext cx="7977134" cy="410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456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</TotalTime>
  <Words>545</Words>
  <Application>Microsoft Office PowerPoint</Application>
  <PresentationFormat>Panorámica</PresentationFormat>
  <Paragraphs>54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Calibri</vt:lpstr>
      <vt:lpstr>Calibri Light</vt:lpstr>
      <vt:lpstr>Verdana</vt:lpstr>
      <vt:lpstr>Retrospección</vt:lpstr>
      <vt:lpstr>Globalmente – Oil &amp; Gas</vt:lpstr>
      <vt:lpstr>Globalmente</vt:lpstr>
      <vt:lpstr>Globalmente</vt:lpstr>
      <vt:lpstr>Latinoamérica – Oil &amp; Gas</vt:lpstr>
      <vt:lpstr>Matriz Riesgo Recompensa Latam – Exploración y Producción Oil &amp; Gas</vt:lpstr>
      <vt:lpstr>Matriz Riesgo Recompensa Latam – Refinamiento Oil &amp; Gas</vt:lpstr>
      <vt:lpstr>Perú – Oil &amp; Gas</vt:lpstr>
      <vt:lpstr>FODA Oil &amp; Gas Peru</vt:lpstr>
      <vt:lpstr>Forecast Producción Perú</vt:lpstr>
      <vt:lpstr>Presentación de PowerPoint</vt:lpstr>
      <vt:lpstr>Infraestructura Oil &amp; Gas Perú</vt:lpstr>
      <vt:lpstr>Key Players en el Mercado Peruano</vt:lpstr>
      <vt:lpstr>Petroperu</vt:lpstr>
      <vt:lpstr>Petroperu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Globalmente</dc:title>
  <dc:creator>FABRI-06</dc:creator>
  <cp:lastModifiedBy>FABRI-06</cp:lastModifiedBy>
  <cp:revision>17</cp:revision>
  <dcterms:created xsi:type="dcterms:W3CDTF">2019-09-25T03:18:01Z</dcterms:created>
  <dcterms:modified xsi:type="dcterms:W3CDTF">2019-09-25T11:38:49Z</dcterms:modified>
</cp:coreProperties>
</file>